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9" autoAdjust="0"/>
    <p:restoredTop sz="94660"/>
  </p:normalViewPr>
  <p:slideViewPr>
    <p:cSldViewPr snapToGrid="0">
      <p:cViewPr varScale="1">
        <p:scale>
          <a:sx n="58" d="100"/>
          <a:sy n="58" d="100"/>
        </p:scale>
        <p:origin x="2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AEA2-5257-7E3B-9C88-D86E3D6A7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A76F2-9F4C-F025-3A0D-C2F5FA6FB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8EB9-46B9-288C-3849-FE8A118C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4C24B-17DC-3406-614A-C74F7742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15CF-6BA3-BDCD-A422-EA233A22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93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8764-8546-9A4D-6104-B76DB73C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ECF2-AE41-9815-8152-2C8FE330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E46FA-46CA-1210-153D-21021415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7DD03-F84C-0B94-E3E4-C055B538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88586-4F5A-830B-6240-AA74961D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00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5D84-1B62-9E83-C0B1-5B6202AD6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76EE4-B634-A679-E8D0-285420199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5D24-F468-D697-516F-BE38E4389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9498B-C466-3563-3688-D75F836A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1294C-9851-F6C6-40D7-3A239E1C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155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B308-F96D-7858-B3A3-422A45EF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D5E5-6D73-BC4D-BE55-813806946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82409-51BE-05FC-C65E-2D125C9C4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BF2D4-4D6E-985F-1CC7-FFAC690B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F911B-172D-66A6-42CB-3F4162CE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316CB-030C-E3D2-2523-C0A39A73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19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E7FC-2055-E4FB-89A3-E4029E27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C52B9-A912-60AD-21CA-3686415F7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ED8C1-17C8-B50C-8651-0E1702414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F90F1-C03D-26A0-A35A-EBAF0F525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A782E7-589D-6792-8CD0-075E95DBB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F989E-05F1-9FE9-A0D4-E040141F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27EFE-AD95-4099-D083-62A854B8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CF42A6-49B5-7D85-4FCE-9F78C381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2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6539-8563-044D-E8ED-B35A9244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9C80C-2D49-24DC-0893-67CA4C81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0DCA7-E55B-9EF5-2D15-29441BF0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0452D-B783-EB91-F7DA-EC1C320F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14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09192-4D57-2323-6F2F-9AD6846F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84B13-C5D8-681E-4100-9D0ECF38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FF17-4B33-EB29-E9CC-40CAC596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29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24D4-D831-8676-84BD-DD0F50D5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1F3A3-1DA4-7666-1979-3B9D7CB5C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17A8C-797F-A3A3-9D40-BA8C182C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2EAC0-6460-8C0A-2572-39B64D30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9DE9E-CCF3-B482-AF2F-B8A2C551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39D47-EF9B-B2D9-811A-146FB0BB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74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CF1B-1F28-6EF5-BD5B-0B4BD8C3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44CE3-B494-1A05-F991-F96DAF831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B1695-21F8-4654-811F-8F228DB67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E8D93-14A6-9E66-2FBA-DDAF82A7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800AB-3E92-F910-B680-EF2DDD79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A4261-1290-98E7-202D-E1F91D85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79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4509-9E22-D097-287D-EA97439A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B2868-5DFF-0A63-CF6F-5956F33C2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5B4DC-0501-5A0D-B2EC-9F5AD5E1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42FB-0EDA-F60E-C221-AD4F14DF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48779-308E-BD48-AD8E-DC0A996E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37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3CF60-25D8-116F-7A89-3D56EFFB9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4DBC7-78E7-3013-4E31-CB099F0B6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C1EB-49A2-5F6E-E5E3-B3674AB7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B1198-D5F9-87A6-18B7-0B358FC3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62A66-B5B7-7369-4F59-C4637E79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80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D005B-FFCC-E116-16E1-0AEFC3304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A989-B9AE-3A5A-C7A1-22CF227E5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AF38B-4FC7-A98C-83C7-5EE0DEB42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3576B-4AF4-4040-B0E7-1BE9D4B42791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3D28C-EF51-196E-FB1E-9D0A3BC7AC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2B4F-7FBC-EC47-571C-D7F17918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EB06A-9303-4C7E-8B4C-BA3C3886C0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2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4E5D9-CBDF-5821-8C39-8014AA143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sz="3300"/>
              <a:t>Case Study 1 </a:t>
            </a:r>
            <a:br>
              <a:rPr lang="en-US" sz="3300"/>
            </a:br>
            <a:r>
              <a:rPr lang="en-US" sz="3300" err="1"/>
              <a:t>Cyclistic</a:t>
            </a:r>
            <a:r>
              <a:rPr lang="en-US" sz="3300"/>
              <a:t> Bike-Share Analysis</a:t>
            </a:r>
            <a:br>
              <a:rPr lang="en-US" sz="3300"/>
            </a:br>
            <a:r>
              <a:rPr lang="en-US" sz="3300"/>
              <a:t>Converting Casual Riders to Members</a:t>
            </a:r>
            <a:endParaRPr lang="en-AU" sz="33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3CF40-2A82-279F-7ED5-D9D7BE58C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sz="2000"/>
              <a:t>Insights from Data &amp; Marketing Recommendations </a:t>
            </a:r>
          </a:p>
          <a:p>
            <a:r>
              <a:rPr lang="en-US" sz="2000"/>
              <a:t>Presenter: Man Kit, Tsang </a:t>
            </a:r>
          </a:p>
          <a:p>
            <a:r>
              <a:rPr lang="en-US" sz="2000"/>
              <a:t>Date: 8 Feb 2026</a:t>
            </a:r>
            <a:endParaRPr lang="en-AU" sz="200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DF557-9753-1B8C-67FF-F1F20E79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Objective and Business Question 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5A49C-2AD9-1C5A-49F2-CEF87B2A1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/>
              <a:t>Objective</a:t>
            </a:r>
          </a:p>
          <a:p>
            <a:pPr marL="0" indent="0">
              <a:buNone/>
            </a:pPr>
            <a:r>
              <a:rPr lang="en-US" sz="2600"/>
              <a:t>Designing market strategies, aiming to convert casual riders into annual members. </a:t>
            </a:r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 b="1"/>
              <a:t>Business Question </a:t>
            </a:r>
          </a:p>
          <a:p>
            <a:pPr marL="0" indent="0">
              <a:buNone/>
            </a:pPr>
            <a:r>
              <a:rPr lang="en-US" sz="2600"/>
              <a:t>How do annual members and causal riders use </a:t>
            </a:r>
            <a:r>
              <a:rPr lang="en-US" sz="2600" err="1"/>
              <a:t>Cyclistic</a:t>
            </a:r>
            <a:r>
              <a:rPr lang="en-US" sz="2600"/>
              <a:t> bikes differently?</a:t>
            </a:r>
            <a:endParaRPr lang="en-AU" sz="2600"/>
          </a:p>
        </p:txBody>
      </p:sp>
    </p:spTree>
    <p:extLst>
      <p:ext uri="{BB962C8B-B14F-4D97-AF65-F5344CB8AC3E}">
        <p14:creationId xmlns:p14="http://schemas.microsoft.com/office/powerpoint/2010/main" val="151951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78FFB-D19D-7BCD-488A-0F69252C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A233C-FFDE-3E1C-50A9-BD960000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Weekly Usage Pattern – 1  </a:t>
            </a:r>
            <a:endParaRPr lang="en-AU" sz="40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1ECF9-8E14-945F-C003-E312BCC0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55" y="1805056"/>
            <a:ext cx="4967216" cy="422213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D110B-71BD-2066-EC97-9B7CF31A4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Annual Members</a:t>
            </a:r>
          </a:p>
          <a:p>
            <a:pPr>
              <a:buFontTx/>
              <a:buChar char="-"/>
            </a:pPr>
            <a:r>
              <a:rPr lang="en-US" sz="2200" dirty="0"/>
              <a:t>Higher user counts on weekdays (Monday to Friday). </a:t>
            </a:r>
          </a:p>
          <a:p>
            <a:pPr>
              <a:buFontTx/>
              <a:buChar char="-"/>
            </a:pPr>
            <a:r>
              <a:rPr lang="en-US" sz="2200" dirty="0"/>
              <a:t>Suggesting they are using the bike for work commutation.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Casual Riders</a:t>
            </a:r>
          </a:p>
          <a:p>
            <a:pPr>
              <a:buFontTx/>
              <a:buChar char="-"/>
            </a:pPr>
            <a:r>
              <a:rPr lang="en-US" sz="2200" dirty="0"/>
              <a:t>User count peaks on weekdays.</a:t>
            </a:r>
          </a:p>
          <a:p>
            <a:pPr>
              <a:buFontTx/>
              <a:buChar char="-"/>
            </a:pPr>
            <a:r>
              <a:rPr lang="en-US" sz="2200" dirty="0"/>
              <a:t>Suggesting the use of bike for leisure and recreational purpose. 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13651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B575E-7425-11F0-FAFC-494DF9CF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C8DCD-8013-7B32-2605-427B2F76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Weekly Usage Pattern – 2 </a:t>
            </a:r>
            <a:endParaRPr lang="en-AU" sz="40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97DB94-BB87-C9A3-E8BA-41233757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182363"/>
            <a:ext cx="4777381" cy="432352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B5A1-F719-8E5E-9A99-DFD489CCB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Annual Members</a:t>
            </a:r>
          </a:p>
          <a:p>
            <a:pPr>
              <a:buFontTx/>
              <a:buChar char="-"/>
            </a:pPr>
            <a:r>
              <a:rPr lang="en-US" sz="2000" dirty="0"/>
              <a:t>Steady average duration throughout the whole week (approx. 15 mins). </a:t>
            </a:r>
          </a:p>
          <a:p>
            <a:pPr>
              <a:buFontTx/>
              <a:buChar char="-"/>
            </a:pPr>
            <a:r>
              <a:rPr lang="en-US" sz="2000" dirty="0"/>
              <a:t>Suggesting a fixed and stable routines.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/>
              <a:t>Casual Riders</a:t>
            </a:r>
          </a:p>
          <a:p>
            <a:pPr>
              <a:buFontTx/>
              <a:buChar char="-"/>
            </a:pPr>
            <a:r>
              <a:rPr lang="en-US" sz="2000" dirty="0"/>
              <a:t>Longer average rides (up to 25 mins) and peaks on weekends. </a:t>
            </a:r>
          </a:p>
          <a:p>
            <a:pPr>
              <a:buFontTx/>
              <a:buChar char="-"/>
            </a:pPr>
            <a:endParaRPr lang="en-US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161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0675D-7852-339F-1B0A-58D4BC76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93575-2806-9D20-559E-E3690AEC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Hourly Usage Pattern  </a:t>
            </a:r>
            <a:endParaRPr lang="en-AU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F10ED-1918-8A81-610C-A02173A4B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492893"/>
            <a:ext cx="4777381" cy="370246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AAB8-00BD-ADEB-77EC-F6892E0BA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Annual Members</a:t>
            </a:r>
          </a:p>
          <a:p>
            <a:pPr>
              <a:buFontTx/>
              <a:buChar char="-"/>
            </a:pPr>
            <a:r>
              <a:rPr lang="en-US" sz="2400" dirty="0"/>
              <a:t>Distinct peaks in usage of bikes at 8am and 6pm, where aligns with standard rush hours for work commuters.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Casual Riders</a:t>
            </a:r>
          </a:p>
          <a:p>
            <a:pPr>
              <a:buFontTx/>
              <a:buChar char="-"/>
            </a:pPr>
            <a:r>
              <a:rPr lang="en-US" sz="2400" dirty="0"/>
              <a:t>A steady normal distributed usage is being presented for casual riders. This suggesting a non-work related activity. </a:t>
            </a:r>
          </a:p>
          <a:p>
            <a:pPr>
              <a:buFontTx/>
              <a:buChar char="-"/>
            </a:pPr>
            <a:endParaRPr lang="en-US" sz="2400" b="1" dirty="0"/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1608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CBC89-D8E1-970C-8AAA-A316BC28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4A9EA-C0A3-8098-49A7-BB2C4D9F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Monthly Usage Pattern</a:t>
            </a:r>
            <a:endParaRPr lang="en-AU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28CDD-C5B6-E83E-8151-F15EB16FC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325685"/>
            <a:ext cx="4777381" cy="403688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8248-5F79-4E29-2789-2C4F8D924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Seasonality</a:t>
            </a:r>
          </a:p>
          <a:p>
            <a:pPr marL="0" indent="0">
              <a:buNone/>
            </a:pPr>
            <a:r>
              <a:rPr lang="en-US" sz="2000" dirty="0"/>
              <a:t>High number of users in summer seasons and extremely low number of users in winter.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Causal Riders Count</a:t>
            </a:r>
          </a:p>
          <a:p>
            <a:pPr marL="0" indent="0">
              <a:buNone/>
            </a:pPr>
            <a:r>
              <a:rPr lang="en-US" sz="2000" dirty="0"/>
              <a:t>Causal rider numbers peak from July to August with approx. 300000 hires.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Tx/>
              <a:buChar char="-"/>
            </a:pPr>
            <a:endParaRPr lang="en-US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432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5BDA0-42D2-B0EE-50A5-34CA1102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15D947-1ED4-D556-B76A-8801D7268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46C5A7-B9FD-1BB3-6611-BB403CC41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1729E-62AA-05DF-6F88-9426DABF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Key Findings  </a:t>
            </a:r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EF82E33-4CBA-8EAC-AF4A-FB541BE02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F147F4A-12B7-A9AB-314E-9188DABE4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BDBC-FB5D-820A-883A-C4E01467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Usages of </a:t>
            </a:r>
            <a:r>
              <a:rPr lang="en-US" sz="2600" b="1" dirty="0" err="1"/>
              <a:t>Cyclistic</a:t>
            </a:r>
            <a:r>
              <a:rPr lang="en-US" sz="2600" b="1" dirty="0"/>
              <a:t> Bikes for different user types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000" b="1" dirty="0"/>
              <a:t>Annual Members</a:t>
            </a:r>
          </a:p>
          <a:p>
            <a:pPr marL="0" indent="0">
              <a:buNone/>
            </a:pPr>
            <a:r>
              <a:rPr lang="en-US" sz="2000" dirty="0"/>
              <a:t>Consistent demand and short duration per trip, with a routine-based usage during weekdays.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Casual Riders</a:t>
            </a:r>
          </a:p>
          <a:p>
            <a:pPr marL="0" indent="0">
              <a:buNone/>
            </a:pPr>
            <a:r>
              <a:rPr lang="en-US" sz="2000" dirty="0"/>
              <a:t>Higher demand on weekends with a strong seasonal usages during summer season.</a:t>
            </a:r>
            <a:endParaRPr lang="en-AU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72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FBA73-0E8D-09F8-D602-BA470562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BA1D853-5A74-98F0-FFCD-369D1C6EF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792AD-68FC-A35A-A3FE-3272A2459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E18A0-18C3-0548-B6DE-23E74CBC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Marketing Strategies</a:t>
            </a:r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DE4899A-8CD0-BEC8-DABE-1DBC213B5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EB5C14-02BF-62D0-2110-A5FE22877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9B31-E2FD-4113-F8D7-77DDD44B5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b="1" dirty="0"/>
              <a:t>Top 3 Recommendations </a:t>
            </a:r>
          </a:p>
          <a:p>
            <a:pPr marL="514350" indent="-514350">
              <a:buAutoNum type="arabicPeriod"/>
            </a:pPr>
            <a:r>
              <a:rPr lang="en-US" sz="2600" b="1" dirty="0"/>
              <a:t>New member discount promotion event</a:t>
            </a:r>
            <a:br>
              <a:rPr lang="en-US" sz="2600" dirty="0"/>
            </a:br>
            <a:r>
              <a:rPr lang="en-US" sz="2600" dirty="0"/>
              <a:t>- Promotion during July to August, targeting causal riders</a:t>
            </a:r>
          </a:p>
          <a:p>
            <a:pPr marL="514350" indent="-514350">
              <a:buAutoNum type="arabicPeriod"/>
            </a:pPr>
            <a:r>
              <a:rPr lang="en-US" sz="2600" b="1" dirty="0"/>
              <a:t>Member only perks </a:t>
            </a:r>
            <a:br>
              <a:rPr lang="en-US" sz="2600" dirty="0"/>
            </a:br>
            <a:r>
              <a:rPr lang="en-US" sz="2600" dirty="0"/>
              <a:t>- Encouraging sign ups for membership by offering discount rate on weekend riding</a:t>
            </a:r>
          </a:p>
          <a:p>
            <a:pPr marL="514350" indent="-514350">
              <a:buAutoNum type="arabicPeriod"/>
            </a:pPr>
            <a:r>
              <a:rPr lang="en-US" sz="2600" b="1" dirty="0"/>
              <a:t>Bike reservation system </a:t>
            </a:r>
            <a:br>
              <a:rPr lang="en-US" sz="2600" dirty="0"/>
            </a:br>
            <a:r>
              <a:rPr lang="en-US" sz="2600" dirty="0"/>
              <a:t>- Introducing a bike reservation for members, allowing members to book in a bike in advance, providing reliability of bike for members.</a:t>
            </a:r>
            <a:br>
              <a:rPr lang="en-US" sz="2600" dirty="0"/>
            </a:br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4221529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345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Case Study 1  Cyclistic Bike-Share Analysis Converting Casual Riders to Members</vt:lpstr>
      <vt:lpstr>Objective and Business Question </vt:lpstr>
      <vt:lpstr>Weekly Usage Pattern – 1  </vt:lpstr>
      <vt:lpstr>Weekly Usage Pattern – 2 </vt:lpstr>
      <vt:lpstr>Hourly Usage Pattern  </vt:lpstr>
      <vt:lpstr>Monthly Usage Pattern</vt:lpstr>
      <vt:lpstr>Key Findings  </vt:lpstr>
      <vt:lpstr>Marketing Strategies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Tsang (Student)</dc:creator>
  <cp:lastModifiedBy>Michael Tsang (Student)</cp:lastModifiedBy>
  <cp:revision>4</cp:revision>
  <dcterms:created xsi:type="dcterms:W3CDTF">2026-02-08T07:32:58Z</dcterms:created>
  <dcterms:modified xsi:type="dcterms:W3CDTF">2026-02-08T13:19:38Z</dcterms:modified>
</cp:coreProperties>
</file>